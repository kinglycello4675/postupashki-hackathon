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57" r:id="rId4"/>
    <p:sldId id="259" r:id="rId5"/>
    <p:sldId id="263" r:id="rId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B6C5"/>
    <a:srgbClr val="949BB0"/>
    <a:srgbClr val="16213E"/>
    <a:srgbClr val="BDB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6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36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4B5B6-26A7-854B-0EA8-8216A0581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2E672-07D1-EFBC-4431-645A00625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F0E1-1721-1D35-81FF-B6D3FA790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CCB75-7400-B208-C7DE-3A9226A27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36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3609-49EC-3727-8F1B-751C4549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6F322-9FDE-4BB7-D22A-279D381E7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B4263-383A-AF85-7554-961331233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BC7A2-7D40-056E-ADEC-5B5C1731C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480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</a:t>
            </a:r>
            <a:r>
              <a:rPr lang="ru-RU" sz="100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778240" y="-1280160"/>
            <a:ext cx="5120640" cy="5120640"/>
          </a:xfrm>
          <a:prstGeom prst="ellipse">
            <a:avLst/>
          </a:prstGeom>
          <a:solidFill>
            <a:srgbClr val="24305C"/>
          </a:solidFill>
          <a:ln w="12700">
            <a:solidFill>
              <a:srgbClr val="2430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0058400" y="3749040"/>
            <a:ext cx="2194560" cy="21945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Поступашки: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исчезает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маркетинг?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рекламы в Telegram до ROMI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Кейс-чемпионат по аналитике данных</a:t>
            </a:r>
            <a:endParaRPr lang="en-US" sz="14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231987" y="6251377"/>
            <a:ext cx="33341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6B7591"/>
                </a:solidFill>
                <a:latin typeface="Calibri" pitchFamily="34" charset="0"/>
                <a:cs typeface="Calibri" pitchFamily="34" charset="-120"/>
              </a:rPr>
              <a:t>Команда </a:t>
            </a:r>
            <a:r>
              <a:rPr lang="ru-RU" sz="1400" dirty="0" err="1">
                <a:solidFill>
                  <a:srgbClr val="6B7591"/>
                </a:solidFill>
                <a:latin typeface="Calibri" pitchFamily="34" charset="0"/>
                <a:cs typeface="Calibri" pitchFamily="34" charset="-120"/>
              </a:rPr>
              <a:t>НеИскусственные</a:t>
            </a:r>
            <a:r>
              <a:rPr lang="ru-RU" sz="1400" dirty="0">
                <a:solidFill>
                  <a:srgbClr val="6B7591"/>
                </a:solidFill>
                <a:latin typeface="Calibri" pitchFamily="34" charset="0"/>
                <a:cs typeface="Calibri" pitchFamily="34" charset="-120"/>
              </a:rPr>
              <a:t> Аналитики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3A94-A98F-F231-1974-17034117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BCB737-BC06-09B1-0682-7EC50FEA0244}"/>
              </a:ext>
            </a:extLst>
          </p:cNvPr>
          <p:cNvSpPr txBox="1"/>
          <p:nvPr/>
        </p:nvSpPr>
        <p:spPr>
          <a:xfrm>
            <a:off x="64008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FB867B-0A9A-82AD-DE5D-6E58CE8528EB}"/>
              </a:ext>
            </a:extLst>
          </p:cNvPr>
          <p:cNvSpPr txBox="1"/>
          <p:nvPr/>
        </p:nvSpPr>
        <p:spPr>
          <a:xfrm>
            <a:off x="10332720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</a:t>
            </a:r>
            <a:r>
              <a:rPr lang="ru-RU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7ACDDC-0DF1-A586-C53E-B581429A530C}"/>
              </a:ext>
            </a:extLst>
          </p:cNvPr>
          <p:cNvSpPr txBox="1"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1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Проблема и данные </a:t>
            </a:r>
            <a:endParaRPr lang="en-US" sz="3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AC9A395-A143-D27D-4169-DB7503864858}"/>
              </a:ext>
            </a:extLst>
          </p:cNvPr>
          <p:cNvSpPr/>
          <p:nvPr/>
        </p:nvSpPr>
        <p:spPr>
          <a:xfrm>
            <a:off x="640080" y="1509550"/>
            <a:ext cx="5113019" cy="2100580"/>
          </a:xfrm>
          <a:prstGeom prst="roundRect">
            <a:avLst>
              <a:gd name="adj" fmla="val 3158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blurRad="127000" dist="12700" dir="5400000" algn="bl" rotWithShape="0">
              <a:srgbClr val="8E9CBD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04497A-10EB-CCCE-3039-87F4B2235D0F}"/>
              </a:ext>
            </a:extLst>
          </p:cNvPr>
          <p:cNvSpPr txBox="1"/>
          <p:nvPr/>
        </p:nvSpPr>
        <p:spPr>
          <a:xfrm>
            <a:off x="1003300" y="2185591"/>
            <a:ext cx="440690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6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видит покупки, но не видит путь к ним: неизвестно, откуда пришёл покупатель, сколько стоило конкретное размещение и какие касания были до оплаты — поэтому исторический ROMI посчитать нельзя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EBD5805-E6B1-55EF-7F8F-426D57E1C989}"/>
              </a:ext>
            </a:extLst>
          </p:cNvPr>
          <p:cNvSpPr/>
          <p:nvPr/>
        </p:nvSpPr>
        <p:spPr>
          <a:xfrm>
            <a:off x="6438902" y="1548242"/>
            <a:ext cx="5113017" cy="4641631"/>
          </a:xfrm>
          <a:prstGeom prst="roundRect">
            <a:avLst>
              <a:gd name="adj" fmla="val 3158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blurRad="127000" dist="12700" dir="5400000" algn="bl" rotWithShape="0">
              <a:srgbClr val="8E9CBD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1E086D9-167C-86CC-1801-00E6E5A9FAEC}"/>
              </a:ext>
            </a:extLst>
          </p:cNvPr>
          <p:cNvSpPr txBox="1"/>
          <p:nvPr/>
        </p:nvSpPr>
        <p:spPr>
          <a:xfrm>
            <a:off x="6877557" y="1670981"/>
            <a:ext cx="2437324" cy="2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2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BF04540-829F-DAA2-9FD1-C7205B393575}"/>
              </a:ext>
            </a:extLst>
          </p:cNvPr>
          <p:cNvSpPr txBox="1"/>
          <p:nvPr/>
        </p:nvSpPr>
        <p:spPr>
          <a:xfrm>
            <a:off x="6877557" y="2185591"/>
            <a:ext cx="4311143" cy="94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ru-RU" sz="16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Реальные: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Продажи: 795 строк, 606 покупателей, 18 курсов, 5,9 млн ₽ за 04.08–10.09.2026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Telegram-канал: посты, охваты, даты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верификация ИИ-разметки: 10 рекламных постов, 1 исключён</a:t>
            </a:r>
          </a:p>
          <a:p>
            <a:pPr marL="0" indent="0">
              <a:lnSpc>
                <a:spcPct val="112000"/>
              </a:lnSpc>
              <a:buNone/>
            </a:pPr>
            <a:endParaRPr lang="ru-RU" sz="1600" dirty="0">
              <a:solidFill>
                <a:srgbClr val="6B759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ru-RU" sz="16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Синтетика (для демонстрации MVP):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размещений с </a:t>
            </a:r>
            <a:r>
              <a:rPr lang="ru-RU" sz="1600" dirty="0" err="1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ru-RU" sz="1600" dirty="0">
              <a:solidFill>
                <a:srgbClr val="6B759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Касания пользователей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r>
              <a:rPr lang="ru-RU" sz="16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-покупки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4D76CCA8-8317-E55F-FD5D-D0594FCF8CFC}"/>
              </a:ext>
            </a:extLst>
          </p:cNvPr>
          <p:cNvSpPr/>
          <p:nvPr/>
        </p:nvSpPr>
        <p:spPr>
          <a:xfrm>
            <a:off x="1003300" y="1670981"/>
            <a:ext cx="16690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56E64BB3-29B2-0869-D560-5398ECD2C4EA}"/>
              </a:ext>
            </a:extLst>
          </p:cNvPr>
          <p:cNvSpPr/>
          <p:nvPr/>
        </p:nvSpPr>
        <p:spPr>
          <a:xfrm>
            <a:off x="607060" y="4089293"/>
            <a:ext cx="5113019" cy="2100580"/>
          </a:xfrm>
          <a:prstGeom prst="roundRect">
            <a:avLst>
              <a:gd name="adj" fmla="val 3158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blurRad="127000" dist="12700" dir="5400000" algn="bl" rotWithShape="0">
              <a:srgbClr val="8E9CBD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87A58C3-B1AB-AD08-3577-30958CD14BF4}"/>
              </a:ext>
            </a:extLst>
          </p:cNvPr>
          <p:cNvSpPr txBox="1"/>
          <p:nvPr/>
        </p:nvSpPr>
        <p:spPr>
          <a:xfrm>
            <a:off x="970280" y="4765334"/>
            <a:ext cx="440690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— покупки одного студента с разрывом менее 24 часов. Всего 625 заказов, средний чек 9 447 ₽. </a:t>
            </a:r>
          </a:p>
          <a:p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в файле — не цена курса, а доля заказа: в пакете разнесена поровну. </a:t>
            </a:r>
          </a:p>
          <a:p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Повторные покупки — около 3% покупателей и выручки, в ROMI по платным размещениям не входят.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C2AE95A-CC5D-6D57-7215-4B179E82B432}"/>
              </a:ext>
            </a:extLst>
          </p:cNvPr>
          <p:cNvSpPr/>
          <p:nvPr/>
        </p:nvSpPr>
        <p:spPr>
          <a:xfrm>
            <a:off x="970280" y="4250724"/>
            <a:ext cx="21916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Определения</a:t>
            </a:r>
          </a:p>
        </p:txBody>
      </p:sp>
    </p:spTree>
    <p:extLst>
      <p:ext uri="{BB962C8B-B14F-4D97-AF65-F5344CB8AC3E}">
        <p14:creationId xmlns:p14="http://schemas.microsoft.com/office/powerpoint/2010/main" val="79150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ru-RU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1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Существующие продажи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155324" y="1174367"/>
            <a:ext cx="2906506" cy="2023195"/>
          </a:xfrm>
          <a:prstGeom prst="roundRect">
            <a:avLst>
              <a:gd name="adj" fmla="val 3158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blurRad="127000" dist="12700" dir="5400000" algn="bl" rotWithShape="0">
              <a:srgbClr val="8E9CBD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246675" y="1981084"/>
            <a:ext cx="2898648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Определили какие клиенты – уникальные покупатели. Выяснили что значит </a:t>
            </a:r>
            <a:r>
              <a:rPr lang="en-US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</a:t>
            </a:r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исходных данных. Посчитали базовые метрики. Поняли, что мы можем определить из этих данных, а что нет.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1306" y="1174366"/>
            <a:ext cx="2898648" cy="2023195"/>
          </a:xfrm>
          <a:prstGeom prst="roundRect">
            <a:avLst>
              <a:gd name="adj" fmla="val 3158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blurRad="127000" dist="12700" dir="5400000" algn="bl" rotWithShape="0">
              <a:srgbClr val="8E9CBD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3398676" y="1369396"/>
            <a:ext cx="2437324" cy="28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Построили графики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398676" y="1954732"/>
            <a:ext cx="2437324" cy="94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Определили всплески, обнаружили аномалию связанную с </a:t>
            </a:r>
            <a:r>
              <a:rPr lang="ru-RU" sz="1250" dirty="0" err="1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третъим</a:t>
            </a:r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всплеском и метриками, определили с чем она связана и предложили решение для бизнеса </a:t>
            </a:r>
            <a:endParaRPr lang="en-US" sz="1250" dirty="0"/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45" y="3331595"/>
            <a:ext cx="5352942" cy="3160645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064" y="3649133"/>
            <a:ext cx="5867597" cy="2237825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064" y="1102354"/>
            <a:ext cx="5747213" cy="2546779"/>
          </a:xfrm>
          <a:prstGeom prst="rect">
            <a:avLst/>
          </a:prstGeom>
        </p:spPr>
      </p:pic>
      <p:sp>
        <p:nvSpPr>
          <p:cNvPr id="37" name="Прямоугольник 36"/>
          <p:cNvSpPr/>
          <p:nvPr/>
        </p:nvSpPr>
        <p:spPr>
          <a:xfrm>
            <a:off x="199145" y="1241384"/>
            <a:ext cx="30225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Провели анализ и </a:t>
            </a:r>
          </a:p>
          <a:p>
            <a:r>
              <a:rPr lang="ru-RU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сортировку покупателей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ru-RU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1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Маркетинговая история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30936" y="1344168"/>
            <a:ext cx="3447288" cy="2039112"/>
          </a:xfrm>
          <a:prstGeom prst="roundRect">
            <a:avLst>
              <a:gd name="adj" fmla="val 295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blurRad="127000" dist="12700" dir="5400000" algn="bl" rotWithShape="0">
              <a:srgbClr val="8E9CBD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820589" y="1621146"/>
            <a:ext cx="2898648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700" b="1" dirty="0" err="1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Спарсили</a:t>
            </a:r>
            <a:r>
              <a:rPr lang="ru-RU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данные с канала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100605"/>
            <a:ext cx="2898648" cy="1394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Отсортировали продающие посты, акции, </a:t>
            </a:r>
            <a:r>
              <a:rPr lang="ru-RU" sz="1250" dirty="0" err="1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нативные</a:t>
            </a:r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интеграции, рекламные размещения в</a:t>
            </a:r>
          </a:p>
          <a:p>
            <a:pPr>
              <a:lnSpc>
                <a:spcPct val="112000"/>
              </a:lnSpc>
            </a:pPr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сторонних каналах, возможные даты</a:t>
            </a:r>
          </a:p>
          <a:p>
            <a:pPr>
              <a:lnSpc>
                <a:spcPct val="112000"/>
              </a:lnSpc>
            </a:pPr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запусков. 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2544" y="1344168"/>
            <a:ext cx="3447288" cy="2039112"/>
          </a:xfrm>
          <a:prstGeom prst="roundRect">
            <a:avLst>
              <a:gd name="adj" fmla="val 295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blurRad="127000" dist="12700" dir="5400000" algn="bl" rotWithShape="0">
              <a:srgbClr val="8E9CBD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4626864" y="1621146"/>
            <a:ext cx="2898648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Восстановили удаленный пост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097152"/>
            <a:ext cx="2898648" cy="1394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помощи </a:t>
            </a:r>
            <a:r>
              <a:rPr lang="en-US" sz="1250" dirty="0" err="1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Tgstat</a:t>
            </a:r>
            <a:r>
              <a:rPr lang="ru-RU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нашли рекламный пост, внесли в статистику</a:t>
            </a:r>
            <a:r>
              <a:rPr lang="en-US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1344168"/>
            <a:ext cx="3447288" cy="2039112"/>
          </a:xfrm>
          <a:prstGeom prst="roundRect">
            <a:avLst>
              <a:gd name="adj" fmla="val 295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blurRad="127000" dist="12700" dir="5400000" algn="bl" rotWithShape="0">
              <a:srgbClr val="8E9CBD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 txBox="1"/>
          <p:nvPr/>
        </p:nvSpPr>
        <p:spPr>
          <a:xfrm>
            <a:off x="8357616" y="1621146"/>
            <a:ext cx="2898648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Провели ручную сортировку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2121408"/>
            <a:ext cx="2898648" cy="1394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ru-RU" sz="1250" dirty="0">
                <a:solidFill>
                  <a:srgbClr val="2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результате которой один пост выпал из статистики</a:t>
            </a:r>
            <a:endParaRPr lang="en-US" sz="125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360" y="3526722"/>
            <a:ext cx="8425655" cy="31118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79CA-EE25-14D3-B76B-57526DBE3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>
            <a:extLst>
              <a:ext uri="{FF2B5EF4-FFF2-40B4-BE49-F238E27FC236}">
                <a16:creationId xmlns:a16="http://schemas.microsoft.com/office/drawing/2014/main" id="{0D206742-FFCD-5C3E-D80E-58FD25D8BEE8}"/>
              </a:ext>
            </a:extLst>
          </p:cNvPr>
          <p:cNvSpPr/>
          <p:nvPr/>
        </p:nvSpPr>
        <p:spPr>
          <a:xfrm>
            <a:off x="6591302" y="1344168"/>
            <a:ext cx="5113017" cy="5294376"/>
          </a:xfrm>
          <a:prstGeom prst="roundRect">
            <a:avLst>
              <a:gd name="adj" fmla="val 3158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blurRad="127000" dist="12700" dir="5400000" algn="bl" rotWithShape="0">
              <a:srgbClr val="8E9CBD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BD4C79E-8EF3-6036-1D9B-D3F79DD75D37}"/>
              </a:ext>
            </a:extLst>
          </p:cNvPr>
          <p:cNvSpPr txBox="1"/>
          <p:nvPr/>
        </p:nvSpPr>
        <p:spPr>
          <a:xfrm>
            <a:off x="64008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732EDD-FEEE-4C7E-8629-34D904FFEBA7}"/>
              </a:ext>
            </a:extLst>
          </p:cNvPr>
          <p:cNvSpPr txBox="1"/>
          <p:nvPr/>
        </p:nvSpPr>
        <p:spPr>
          <a:xfrm>
            <a:off x="10332720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ru-RU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65E87F-7B96-2541-11FD-6BFDFF808DF7}"/>
              </a:ext>
            </a:extLst>
          </p:cNvPr>
          <p:cNvSpPr txBox="1"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1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Что не хватает и наш </a:t>
            </a:r>
            <a:r>
              <a:rPr lang="en-US" sz="31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measurement system</a:t>
            </a:r>
            <a:endParaRPr lang="en-US" sz="3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7C42A20-2E8D-9F73-4247-7BEEBD231D40}"/>
              </a:ext>
            </a:extLst>
          </p:cNvPr>
          <p:cNvSpPr txBox="1"/>
          <p:nvPr/>
        </p:nvSpPr>
        <p:spPr>
          <a:xfrm>
            <a:off x="617027" y="3466791"/>
            <a:ext cx="5726624" cy="29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ru-RU" b="1" dirty="0">
                <a:solidFill>
                  <a:srgbClr val="16213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Чтобы</a:t>
            </a:r>
            <a:r>
              <a:rPr lang="ru-RU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считать ROMI, бизнесу не хватает логирования касаний: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16213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откуда пришёл покупатель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16213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когда подписался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16213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сколько стоило размещение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16213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какие были касания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16213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полный список размещений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0" i="0" u="none" strike="noStrike" kern="1200" cap="none" spc="0" normalizeH="0" baseline="0" noProof="0" dirty="0" err="1">
                <a:ln>
                  <a:noFill/>
                </a:ln>
                <a:solidFill>
                  <a:srgbClr val="16213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incrementality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1621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lnSpc>
                <a:spcPct val="112000"/>
              </a:lnSpc>
              <a:buNone/>
            </a:pPr>
            <a:endParaRPr lang="ru-RU" b="1" dirty="0">
              <a:solidFill>
                <a:srgbClr val="16213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endParaRPr lang="en-US" b="1" dirty="0">
              <a:solidFill>
                <a:srgbClr val="16213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9F077-39AB-B22A-46AD-8EA669276190}"/>
              </a:ext>
            </a:extLst>
          </p:cNvPr>
          <p:cNvSpPr txBox="1"/>
          <p:nvPr/>
        </p:nvSpPr>
        <p:spPr>
          <a:xfrm>
            <a:off x="556939" y="1439135"/>
            <a:ext cx="572662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16213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Воронка, которую мы измеряем</a:t>
            </a:r>
            <a:r>
              <a:rPr lang="ru-RU" sz="2400" b="1" dirty="0">
                <a:solidFill>
                  <a:srgbClr val="16213E"/>
                </a:solidFill>
              </a:rPr>
              <a:t>:</a:t>
            </a:r>
          </a:p>
          <a:p>
            <a:endParaRPr lang="ru-RU" dirty="0"/>
          </a:p>
          <a:p>
            <a:r>
              <a:rPr lang="ru-RU" sz="2000" dirty="0">
                <a:solidFill>
                  <a:srgbClr val="16213E"/>
                </a:solidFill>
              </a:rPr>
              <a:t>Реклама → </a:t>
            </a:r>
            <a:r>
              <a:rPr lang="en-US" sz="2000" dirty="0" err="1">
                <a:solidFill>
                  <a:srgbClr val="16213E"/>
                </a:solidFill>
              </a:rPr>
              <a:t>placement_id</a:t>
            </a:r>
            <a:r>
              <a:rPr lang="en-US" sz="2000" dirty="0">
                <a:solidFill>
                  <a:srgbClr val="16213E"/>
                </a:solidFill>
              </a:rPr>
              <a:t> → </a:t>
            </a:r>
            <a:r>
              <a:rPr lang="ru-RU" sz="2000" dirty="0">
                <a:solidFill>
                  <a:srgbClr val="16213E"/>
                </a:solidFill>
              </a:rPr>
              <a:t>пользователь → покупка → выручка → атрибуция → </a:t>
            </a:r>
            <a:r>
              <a:rPr lang="en-US" sz="2000" dirty="0">
                <a:solidFill>
                  <a:srgbClr val="16213E"/>
                </a:solidFill>
              </a:rPr>
              <a:t>ROMI → </a:t>
            </a:r>
            <a:r>
              <a:rPr lang="ru-RU" sz="2000" dirty="0">
                <a:solidFill>
                  <a:srgbClr val="16213E"/>
                </a:solidFill>
              </a:rPr>
              <a:t>бюджет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111612F-ADF0-53AF-92CC-101724D180D5}"/>
              </a:ext>
            </a:extLst>
          </p:cNvPr>
          <p:cNvSpPr txBox="1"/>
          <p:nvPr/>
        </p:nvSpPr>
        <p:spPr>
          <a:xfrm>
            <a:off x="7029957" y="1469748"/>
            <a:ext cx="4573444" cy="386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реализовано в </a:t>
            </a: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r>
              <a:rPr lang="ru-RU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E70341A-8658-B0AF-1208-4DFB733259A9}"/>
              </a:ext>
            </a:extLst>
          </p:cNvPr>
          <p:cNvSpPr txBox="1"/>
          <p:nvPr/>
        </p:nvSpPr>
        <p:spPr>
          <a:xfrm>
            <a:off x="7029957" y="2060152"/>
            <a:ext cx="4311143" cy="94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</a:rPr>
              <a:t>Реестр размещений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 — фиксируем каждый пост: канал, дата, стоимость, 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placement_id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 err="1">
                <a:solidFill>
                  <a:srgbClr val="0F1115"/>
                </a:solidFill>
                <a:effectLst/>
              </a:rPr>
              <a:t>Tracking</a:t>
            </a:r>
            <a:r>
              <a:rPr lang="ru-RU" sz="1600" b="1" i="0" dirty="0">
                <a:solidFill>
                  <a:srgbClr val="0F1115"/>
                </a:solidFill>
                <a:effectLst/>
              </a:rPr>
              <a:t> через бота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 — ссылка t.me/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postupashki_bot?start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=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placement_id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; бот сохраняет 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user_id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 и 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placement_id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</a:rPr>
              <a:t>User </a:t>
            </a:r>
            <a:r>
              <a:rPr lang="ru-RU" sz="1600" b="1" i="0" dirty="0" err="1">
                <a:solidFill>
                  <a:srgbClr val="0F1115"/>
                </a:solidFill>
                <a:effectLst/>
              </a:rPr>
              <a:t>stitching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 — лид у менеджера и оплата связываются по одному 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user_id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; если 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source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 неизвестен, покупка идёт в 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organic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 и не выбрасывается.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</a:rPr>
              <a:t>ROMI-калькулятор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 — считает 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Attributed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 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Revenue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 и ROMI по размещениям и каналам на 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demo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-данных. Код готов: как только появится реальный реестр с </a:t>
            </a:r>
            <a:r>
              <a:rPr lang="ru-RU" sz="1600" b="0" i="0" dirty="0" err="1">
                <a:solidFill>
                  <a:srgbClr val="0F1115"/>
                </a:solidFill>
                <a:effectLst/>
              </a:rPr>
              <a:t>cost</a:t>
            </a:r>
            <a:r>
              <a:rPr lang="ru-RU" sz="1600" b="0" i="0" dirty="0">
                <a:solidFill>
                  <a:srgbClr val="0F1115"/>
                </a:solidFill>
                <a:effectLst/>
              </a:rPr>
              <a:t> и логирование касаний — ROMI посчитается без изменений.</a:t>
            </a:r>
          </a:p>
        </p:txBody>
      </p:sp>
    </p:spTree>
    <p:extLst>
      <p:ext uri="{BB962C8B-B14F-4D97-AF65-F5344CB8AC3E}">
        <p14:creationId xmlns:p14="http://schemas.microsoft.com/office/powerpoint/2010/main" val="2491627038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данных: что и как фиксируем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000707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0200"/>
            <a:ext cx="18544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640787" y="160020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60243" y="1600200"/>
            <a:ext cx="2000707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3395" y="1600200"/>
            <a:ext cx="18544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в боте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60950" y="160020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80406" y="1600200"/>
            <a:ext cx="2000707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3558" y="1600200"/>
            <a:ext cx="18544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 у менеджера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081114" y="160020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00570" y="1600200"/>
            <a:ext cx="2000707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73722" y="1600200"/>
            <a:ext cx="18544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301277" y="160020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20733" y="1600200"/>
            <a:ext cx="2000707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93885" y="1600200"/>
            <a:ext cx="18544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в канале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269748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sx="100000" sy="100000" kx="0" ky="0" algn="bl" rotWithShape="0" blurRad="127000" dist="12700" dir="5400000">
              <a:srgbClr val="8E9CBD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2971800"/>
            <a:ext cx="4754880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Событие — отдельная запись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405683"/>
            <a:ext cx="4754880" cy="13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Спроектировали модель данных, в которой каждое событие воронки сохраняется отдельно. Для каждого из пяти ключевых событий зафиксировали, кто его записывает и какие поля сохраняются.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269748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27000" dist="12700" dir="5400000">
              <a:srgbClr val="8E9CBD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92240" y="2971800"/>
            <a:ext cx="4754880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известно про любое событие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405683"/>
            <a:ext cx="4754880" cy="13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его совершил → что сделал → когда → откуда пришёл → к какой рекламной активности относится.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2120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E6EBF5"/>
          </a:solidFill>
          <a:ln w="12700">
            <a:solidFill>
              <a:srgbClr val="E6EBF5"/>
            </a:solidFill>
            <a:prstDash val="solid"/>
          </a:ln>
          <a:effectLst>
            <a:outerShdw sx="100000" sy="100000" kx="0" ky="0" algn="bl" rotWithShape="0" blurRad="127000" dist="12700" dir="5400000">
              <a:srgbClr val="8E9CBD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60120" y="52120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Ключевое звено — placement_id: он протаскивается от рекламного поста до оплаты.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stitching: как связать рекламу с покупкой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000707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0200"/>
            <a:ext cx="18544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640787" y="160020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60243" y="1600200"/>
            <a:ext cx="2000707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3395" y="1600200"/>
            <a:ext cx="18544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tracking-ссылка с id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860950" y="160020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80406" y="1600200"/>
            <a:ext cx="2000707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3558" y="1600200"/>
            <a:ext cx="18544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бот: хеш + placement_id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081114" y="160020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00570" y="1600200"/>
            <a:ext cx="2000707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73722" y="1600200"/>
            <a:ext cx="18544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 у менеджера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301277" y="160020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20733" y="1600200"/>
            <a:ext cx="2000707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93885" y="1600200"/>
            <a:ext cx="18544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2743200"/>
            <a:ext cx="10881360" cy="461772"/>
          </a:xfrm>
          <a:prstGeom prst="roundRect">
            <a:avLst>
              <a:gd name="adj" fmla="val 1386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" y="2905506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98448" y="2779776"/>
            <a:ext cx="9921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размещения генерируем уникальную tracking-ссылку с идентификатором.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3351276"/>
            <a:ext cx="10881360" cy="461772"/>
          </a:xfrm>
          <a:prstGeom prst="roundRect">
            <a:avLst>
              <a:gd name="adj" fmla="val 1386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" y="3513582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98448" y="3387852"/>
            <a:ext cx="9921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сохраняет идентификатор размещения и хеш пользователя — персональные данные не храним.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3959352"/>
            <a:ext cx="10881360" cy="461772"/>
          </a:xfrm>
          <a:prstGeom prst="roundRect">
            <a:avLst>
              <a:gd name="adj" fmla="val 1386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4121658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98448" y="3995928"/>
            <a:ext cx="9921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пользователь пишет менеджеру, лид логируется с тем же хешем.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567428"/>
            <a:ext cx="10881360" cy="461772"/>
          </a:xfrm>
          <a:prstGeom prst="roundRect">
            <a:avLst>
              <a:gd name="adj" fmla="val 1386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4729734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98448" y="4604004"/>
            <a:ext cx="9921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оплате платёж связывается с тем же хешем — цепочка замыкается.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E6EBF5"/>
          </a:solidFill>
          <a:ln w="12700">
            <a:solidFill>
              <a:srgbClr val="E6EBF5"/>
            </a:solidFill>
            <a:prstDash val="solid"/>
          </a:ln>
          <a:effectLst>
            <a:outerShdw sx="100000" sy="100000" kx="0" ky="0" algn="bl" rotWithShape="0" blurRad="127000" dist="12700" dir="5400000">
              <a:srgbClr val="8E9CBD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60120" y="52578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 неизвестен — покупка идёт в органику, а не выбрасывается.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Атрибуция и ROMI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считаем — и почему одной атрибуции мало.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27000" dist="12700" dir="5400000">
              <a:srgbClr val="8E9CBD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182880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touch — основная модель, linear — для сравнения. Окно атрибуции — 14 дней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466344"/>
          </a:xfrm>
          <a:prstGeom prst="roundRect">
            <a:avLst>
              <a:gd name="adj" fmla="val 1372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3227832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98448" y="3099816"/>
            <a:ext cx="9921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в 14 дней: три всплеска длятся по три дня, между ними 10–14 дней затишья.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675888"/>
            <a:ext cx="10881360" cy="466344"/>
          </a:xfrm>
          <a:prstGeom prst="roundRect">
            <a:avLst>
              <a:gd name="adj" fmla="val 1372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3840480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98448" y="3712464"/>
            <a:ext cx="9921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 без касаний идут в органику. Повторные покупки атрибутируются отдельно и не завышают ROMI.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88536"/>
            <a:ext cx="10881360" cy="466344"/>
          </a:xfrm>
          <a:prstGeom prst="roundRect">
            <a:avLst>
              <a:gd name="adj" fmla="val 13725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4453128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98448" y="4325112"/>
            <a:ext cx="9921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считаем только для внешних размещений: у своего канала, акций и органики стоимости нет.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DE9E9"/>
          </a:solidFill>
          <a:ln w="12700">
            <a:solidFill>
              <a:srgbClr val="FDE9E9"/>
            </a:solidFill>
            <a:prstDash val="solid"/>
          </a:ln>
          <a:effectLst>
            <a:outerShdw sx="100000" sy="100000" kx="0" ky="0" algn="bl" rotWithShape="0" blurRad="127000" dist="12700" dir="5400000">
              <a:srgbClr val="8E9CBD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" y="4937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Атрибуция распределяет случившуюся выручку, но не доказывает, что продажа появилась из-за рекламы. Нужен A/B-тест или holdout.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MVP: что реализовано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447288" cy="2788920"/>
          </a:xfrm>
          <a:prstGeom prst="roundRect">
            <a:avLst>
              <a:gd name="adj" fmla="val 295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sx="100000" sy="100000" kx="0" ky="0" algn="bl" rotWithShape="0" blurRad="127000" dist="12700" dir="5400000">
              <a:srgbClr val="8E9CBD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2898648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src/romi.py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08403"/>
            <a:ext cx="2898648" cy="187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ROMI. Читает реестр размещений со стоимостью, касания и продажи, валидирует данные и считает ROMI по размещениям и каналам.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2544" y="1600200"/>
            <a:ext cx="3447288" cy="2788920"/>
          </a:xfrm>
          <a:prstGeom prst="roundRect">
            <a:avLst>
              <a:gd name="adj" fmla="val 295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27000" dist="12700" dir="5400000">
              <a:srgbClr val="8E9CBD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26864" y="1874520"/>
            <a:ext cx="2898648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ноутбука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2308403"/>
            <a:ext cx="2898648" cy="187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продаж · атрибуция и ROMI на демонстрационных данных · что двигает спрос.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65008" y="1600200"/>
            <a:ext cx="3447288" cy="2788920"/>
          </a:xfrm>
          <a:prstGeom prst="roundRect">
            <a:avLst>
              <a:gd name="adj" fmla="val 2951"/>
            </a:avLst>
          </a:prstGeom>
          <a:solidFill>
            <a:srgbClr val="F1F4FA"/>
          </a:solidFill>
          <a:ln w="12700">
            <a:solidFill>
              <a:srgbClr val="F1F4FA"/>
            </a:solidFill>
            <a:prstDash val="solid"/>
          </a:ln>
          <a:effectLst>
            <a:outerShdw sx="100000" sy="100000" kx="0" ky="0" algn="bl" rotWithShape="0" blurRad="127000" dist="12700" dir="5400000">
              <a:srgbClr val="8E9CBD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39328" y="1874520"/>
            <a:ext cx="2898648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src/collect_posts.py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339328" y="2308403"/>
            <a:ext cx="2898648" cy="187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публичного канала. ИИ-разметка выявила 10 рекламных постов, один исключён вручную после проверки.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27000" dist="12700" dir="5400000">
              <a:srgbClr val="8E9CBD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47548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Скрипт универсален: с реальными данными заработает без изменений кода.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01200" y="-1645920"/>
            <a:ext cx="4206240" cy="4206240"/>
          </a:xfrm>
          <a:prstGeom prst="ellipse">
            <a:avLst/>
          </a:prstGeom>
          <a:solidFill>
            <a:srgbClr val="24305C"/>
          </a:solidFill>
          <a:ln w="12700">
            <a:solidFill>
              <a:srgbClr val="2430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делать с бюджетом запуска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можно получить не закупкой рекламы, а продуктом и календарём.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447288" cy="2057400"/>
          </a:xfrm>
          <a:prstGeom prst="roundRect">
            <a:avLst>
              <a:gd name="adj" fmla="val 4000"/>
            </a:avLst>
          </a:prstGeom>
          <a:solidFill>
            <a:srgbClr val="24305C"/>
          </a:solidFill>
          <a:ln w="12700">
            <a:solidFill>
              <a:srgbClr val="2430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2898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35 % → 55 %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2898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продвинутых курсов за неделю: третий всплеск дал не общий рост, а конкретную линейку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2544" y="1965960"/>
            <a:ext cx="3447288" cy="2057400"/>
          </a:xfrm>
          <a:prstGeom prst="roundRect">
            <a:avLst>
              <a:gd name="adj" fmla="val 4000"/>
            </a:avLst>
          </a:prstGeom>
          <a:solidFill>
            <a:srgbClr val="24305C"/>
          </a:solidFill>
          <a:ln w="12700">
            <a:solidFill>
              <a:srgbClr val="2430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6864" y="2194560"/>
            <a:ext cx="2898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−67 %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880360"/>
            <a:ext cx="2898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после дедлайна акции, совпавшего с дедлайном заявок на стажировку в Т-Банк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47288" cy="2057400"/>
          </a:xfrm>
          <a:prstGeom prst="roundRect">
            <a:avLst>
              <a:gd name="adj" fmla="val 4000"/>
            </a:avLst>
          </a:prstGeom>
          <a:solidFill>
            <a:srgbClr val="24305C"/>
          </a:solidFill>
          <a:ln w="12700">
            <a:solidFill>
              <a:srgbClr val="2430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9328" y="2194560"/>
            <a:ext cx="2898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№ 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880360"/>
            <a:ext cx="2898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3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курс «AI агенты» — первый в каталоге по выручке в день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726948"/>
          </a:xfrm>
          <a:prstGeom prst="roundRect">
            <a:avLst>
              <a:gd name="adj" fmla="val 8805"/>
            </a:avLst>
          </a:prstGeom>
          <a:solidFill>
            <a:srgbClr val="24305C"/>
          </a:solidFill>
          <a:ln w="12700">
            <a:solidFill>
              <a:srgbClr val="243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4638294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98448" y="4379976"/>
            <a:ext cx="9921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Привязывать запуски к публичным дедлайнам отбора в крупные компании и запускать новые направления.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16652"/>
            <a:ext cx="10881360" cy="726948"/>
          </a:xfrm>
          <a:prstGeom prst="roundRect">
            <a:avLst>
              <a:gd name="adj" fmla="val 8805"/>
            </a:avLst>
          </a:prstGeom>
          <a:solidFill>
            <a:srgbClr val="24305C"/>
          </a:solidFill>
          <a:ln w="12700">
            <a:solidFill>
              <a:srgbClr val="2430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" y="5511546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98448" y="5253228"/>
            <a:ext cx="9921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тратить на рекламу — сначала вложить в измеряемость: разделить бюджет на проверенное, тесты и эксперименты, оценивать по реальному эффекту.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980</Words>
  <Application>Microsoft Office PowerPoint</Application>
  <PresentationFormat>Широкоэкранный</PresentationFormat>
  <Paragraphs>110</Paragraphs>
  <Slides>10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Поступашки: куда исчезает маркетинг?</dc:title>
  <dc:subject>PptxGenJS Presentation</dc:subject>
  <dc:creator>Аналитика вне SQL</dc:creator>
  <cp:lastModifiedBy>iu da</cp:lastModifiedBy>
  <cp:revision>10</cp:revision>
  <dcterms:created xsi:type="dcterms:W3CDTF">2026-09-12T16:45:22Z</dcterms:created>
  <dcterms:modified xsi:type="dcterms:W3CDTF">2026-09-12T20:17:19Z</dcterms:modified>
</cp:coreProperties>
</file>